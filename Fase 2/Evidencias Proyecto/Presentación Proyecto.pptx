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Montaser Arabic Bold" charset="1" panose="00000800000000000000"/>
      <p:regular r:id="rId17"/>
    </p:embeddedFont>
    <p:embeddedFont>
      <p:font typeface="Montaser Arabic" charset="1" panose="00000500000000000000"/>
      <p:regular r:id="rId18"/>
    </p:embeddedFont>
    <p:embeddedFont>
      <p:font typeface="Glacial Indifference" charset="1" panose="00000000000000000000"/>
      <p:regular r:id="rId19"/>
    </p:embeddedFont>
    <p:embeddedFont>
      <p:font typeface="Glacial Indifference Bold" charset="1" panose="00000800000000000000"/>
      <p:regular r:id="rId20"/>
    </p:embeddedFont>
    <p:embeddedFont>
      <p:font typeface="Glacial Indifference Italics" charset="1" panose="000000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2.png" Type="http://schemas.openxmlformats.org/officeDocument/2006/relationships/image"/><Relationship Id="rId6" Target="../media/image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svg" Type="http://schemas.openxmlformats.org/officeDocument/2006/relationships/image"/><Relationship Id="rId4" Target="../media/image17.png" Type="http://schemas.openxmlformats.org/officeDocument/2006/relationships/image"/><Relationship Id="rId5" Target="../media/image7.png" Type="http://schemas.openxmlformats.org/officeDocument/2006/relationships/image"/><Relationship Id="rId6" Target="../media/image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D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00776" y="-3599724"/>
            <a:ext cx="17486449" cy="17486449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8E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21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107842" y="-1892658"/>
            <a:ext cx="14072316" cy="14072316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EEEFE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21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573938" y="-426562"/>
            <a:ext cx="11140124" cy="11140124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21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202943" y="1202443"/>
            <a:ext cx="7882115" cy="7882115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21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3546864" y="4072166"/>
            <a:ext cx="2106945" cy="2142668"/>
          </a:xfrm>
          <a:custGeom>
            <a:avLst/>
            <a:gdLst/>
            <a:ahLst/>
            <a:cxnLst/>
            <a:rect r="r" b="b" t="t" l="l"/>
            <a:pathLst>
              <a:path h="2142668" w="2106945">
                <a:moveTo>
                  <a:pt x="0" y="0"/>
                </a:moveTo>
                <a:lnTo>
                  <a:pt x="2106945" y="0"/>
                </a:lnTo>
                <a:lnTo>
                  <a:pt x="2106945" y="2142668"/>
                </a:lnTo>
                <a:lnTo>
                  <a:pt x="0" y="214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2" r="-436381" b="-37091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5653809" y="4228276"/>
            <a:ext cx="9087327" cy="1830447"/>
          </a:xfrm>
          <a:custGeom>
            <a:avLst/>
            <a:gdLst/>
            <a:ahLst/>
            <a:cxnLst/>
            <a:rect r="r" b="b" t="t" l="l"/>
            <a:pathLst>
              <a:path h="1830447" w="9087327">
                <a:moveTo>
                  <a:pt x="0" y="0"/>
                </a:moveTo>
                <a:lnTo>
                  <a:pt x="9087327" y="0"/>
                </a:lnTo>
                <a:lnTo>
                  <a:pt x="9087327" y="1830448"/>
                </a:lnTo>
                <a:lnTo>
                  <a:pt x="0" y="18304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362" t="-71329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D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573119" y="-1225636"/>
            <a:ext cx="14493181" cy="13412781"/>
          </a:xfrm>
          <a:custGeom>
            <a:avLst/>
            <a:gdLst/>
            <a:ahLst/>
            <a:cxnLst/>
            <a:rect r="r" b="b" t="t" l="l"/>
            <a:pathLst>
              <a:path h="13412781" w="14493181">
                <a:moveTo>
                  <a:pt x="0" y="0"/>
                </a:moveTo>
                <a:lnTo>
                  <a:pt x="14493181" y="0"/>
                </a:lnTo>
                <a:lnTo>
                  <a:pt x="14493181" y="13412781"/>
                </a:lnTo>
                <a:lnTo>
                  <a:pt x="0" y="134127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344704" y="1952708"/>
            <a:ext cx="7000387" cy="1310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726"/>
              </a:lnSpc>
            </a:pPr>
            <a:r>
              <a:rPr lang="en-US" b="true" sz="7662" spc="720">
                <a:solidFill>
                  <a:srgbClr val="29458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CONTENIDO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344704" y="1124785"/>
            <a:ext cx="5192897" cy="97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57"/>
              </a:lnSpc>
            </a:pPr>
            <a:r>
              <a:rPr lang="en-US" sz="5683" spc="534">
                <a:solidFill>
                  <a:srgbClr val="29458E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TABLA DE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344704" y="3600391"/>
            <a:ext cx="7968415" cy="302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41495" indent="-370748" lvl="1">
              <a:lnSpc>
                <a:spcPts val="4808"/>
              </a:lnSpc>
              <a:buFont typeface="Arial"/>
              <a:buChar char="•"/>
            </a:pPr>
            <a:r>
              <a:rPr lang="en-US" sz="3434" spc="75" strike="noStrike" u="none">
                <a:solidFill>
                  <a:srgbClr val="29458E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Introducción</a:t>
            </a:r>
          </a:p>
          <a:p>
            <a:pPr algn="l" marL="741495" indent="-370748" lvl="1">
              <a:lnSpc>
                <a:spcPts val="4808"/>
              </a:lnSpc>
              <a:buFont typeface="Arial"/>
              <a:buChar char="•"/>
            </a:pPr>
            <a:r>
              <a:rPr lang="en-US" sz="3434" spc="75" strike="noStrike" u="none">
                <a:solidFill>
                  <a:srgbClr val="29458E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Objetivos</a:t>
            </a:r>
          </a:p>
          <a:p>
            <a:pPr algn="l" marL="741495" indent="-370748" lvl="1">
              <a:lnSpc>
                <a:spcPts val="4808"/>
              </a:lnSpc>
              <a:buFont typeface="Arial"/>
              <a:buChar char="•"/>
            </a:pPr>
            <a:r>
              <a:rPr lang="en-US" sz="3434" spc="75" strike="noStrike" u="none">
                <a:solidFill>
                  <a:srgbClr val="29458E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Módulos</a:t>
            </a:r>
          </a:p>
          <a:p>
            <a:pPr algn="l" marL="741495" indent="-370748" lvl="1">
              <a:lnSpc>
                <a:spcPts val="4808"/>
              </a:lnSpc>
              <a:buFont typeface="Arial"/>
              <a:buChar char="•"/>
            </a:pPr>
            <a:r>
              <a:rPr lang="en-US" sz="3434" spc="75" strike="noStrike" u="none">
                <a:solidFill>
                  <a:srgbClr val="29458E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Conclusión</a:t>
            </a:r>
          </a:p>
          <a:p>
            <a:pPr algn="l" marL="741495" indent="-370748" lvl="1">
              <a:lnSpc>
                <a:spcPts val="4808"/>
              </a:lnSpc>
              <a:buFont typeface="Arial"/>
              <a:buChar char="•"/>
            </a:pPr>
            <a:r>
              <a:rPr lang="en-US" sz="3434" spc="75" strike="noStrike" u="none">
                <a:solidFill>
                  <a:srgbClr val="29458E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Contacto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654337" y="3600391"/>
            <a:ext cx="888705" cy="302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8"/>
              </a:lnSpc>
            </a:pPr>
            <a:r>
              <a:rPr lang="en-US" b="true" sz="3434" spc="75">
                <a:solidFill>
                  <a:srgbClr val="29458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03</a:t>
            </a:r>
          </a:p>
          <a:p>
            <a:pPr algn="ctr">
              <a:lnSpc>
                <a:spcPts val="4808"/>
              </a:lnSpc>
            </a:pPr>
            <a:r>
              <a:rPr lang="en-US" b="true" sz="3434" spc="75">
                <a:solidFill>
                  <a:srgbClr val="29458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04</a:t>
            </a:r>
          </a:p>
          <a:p>
            <a:pPr algn="ctr">
              <a:lnSpc>
                <a:spcPts val="4808"/>
              </a:lnSpc>
            </a:pPr>
            <a:r>
              <a:rPr lang="en-US" b="true" sz="3434" spc="75">
                <a:solidFill>
                  <a:srgbClr val="29458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05</a:t>
            </a:r>
          </a:p>
          <a:p>
            <a:pPr algn="ctr">
              <a:lnSpc>
                <a:spcPts val="4808"/>
              </a:lnSpc>
            </a:pPr>
            <a:r>
              <a:rPr lang="en-US" b="true" sz="3434" spc="75">
                <a:solidFill>
                  <a:srgbClr val="29458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10</a:t>
            </a:r>
          </a:p>
          <a:p>
            <a:pPr algn="ctr" marL="0" indent="0" lvl="0">
              <a:lnSpc>
                <a:spcPts val="4808"/>
              </a:lnSpc>
              <a:spcBef>
                <a:spcPct val="0"/>
              </a:spcBef>
            </a:pPr>
            <a:r>
              <a:rPr lang="en-US" b="true" sz="3434" spc="75">
                <a:solidFill>
                  <a:srgbClr val="29458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11</a:t>
            </a:r>
          </a:p>
        </p:txBody>
      </p:sp>
    </p:spTree>
  </p:cSld>
  <p:clrMapOvr>
    <a:masterClrMapping/>
  </p:clrMapOvr>
  <p:transition spd="slow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D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45925">
            <a:off x="1008722" y="-1661064"/>
            <a:ext cx="10372201" cy="13913928"/>
          </a:xfrm>
          <a:custGeom>
            <a:avLst/>
            <a:gdLst/>
            <a:ahLst/>
            <a:cxnLst/>
            <a:rect r="r" b="b" t="t" l="l"/>
            <a:pathLst>
              <a:path h="13913928" w="10372201">
                <a:moveTo>
                  <a:pt x="0" y="0"/>
                </a:moveTo>
                <a:lnTo>
                  <a:pt x="10372201" y="0"/>
                </a:lnTo>
                <a:lnTo>
                  <a:pt x="10372201" y="13913928"/>
                </a:lnTo>
                <a:lnTo>
                  <a:pt x="0" y="139139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0" y="-2425846"/>
            <a:ext cx="18288000" cy="15138691"/>
            <a:chOff x="0" y="0"/>
            <a:chExt cx="24384000" cy="20184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11616827" y="3234461"/>
              <a:ext cx="127671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2767173">
                  <a:moveTo>
                    <a:pt x="0" y="0"/>
                  </a:moveTo>
                  <a:lnTo>
                    <a:pt x="12767173" y="0"/>
                  </a:lnTo>
                  <a:lnTo>
                    <a:pt x="127671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9527" t="-4580" r="-29107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-445925">
              <a:off x="1141763" y="816509"/>
              <a:ext cx="13829602" cy="18551905"/>
            </a:xfrm>
            <a:custGeom>
              <a:avLst/>
              <a:gdLst/>
              <a:ahLst/>
              <a:cxnLst/>
              <a:rect r="r" b="b" t="t" l="l"/>
              <a:pathLst>
                <a:path h="18551905" w="13829602">
                  <a:moveTo>
                    <a:pt x="0" y="0"/>
                  </a:moveTo>
                  <a:lnTo>
                    <a:pt x="13829601" y="0"/>
                  </a:lnTo>
                  <a:lnTo>
                    <a:pt x="13829601" y="18551904"/>
                  </a:lnTo>
                  <a:lnTo>
                    <a:pt x="0" y="18551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Freeform 6" id="6"/>
          <p:cNvSpPr/>
          <p:nvPr/>
        </p:nvSpPr>
        <p:spPr>
          <a:xfrm flipH="false" flipV="false" rot="5698862">
            <a:off x="-1993976" y="242696"/>
            <a:ext cx="14493181" cy="13412781"/>
          </a:xfrm>
          <a:custGeom>
            <a:avLst/>
            <a:gdLst/>
            <a:ahLst/>
            <a:cxnLst/>
            <a:rect r="r" b="b" t="t" l="l"/>
            <a:pathLst>
              <a:path h="13412781" w="14493181">
                <a:moveTo>
                  <a:pt x="0" y="0"/>
                </a:moveTo>
                <a:lnTo>
                  <a:pt x="14493181" y="0"/>
                </a:lnTo>
                <a:lnTo>
                  <a:pt x="14493181" y="13412781"/>
                </a:lnTo>
                <a:lnTo>
                  <a:pt x="0" y="134127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497246" y="1365567"/>
            <a:ext cx="6460548" cy="966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INTRODUCCIÓN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97246" y="1929489"/>
            <a:ext cx="8324690" cy="1259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b="true" sz="7327" spc="688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 PROYECTO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97246" y="3686226"/>
            <a:ext cx="7510737" cy="461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52"/>
              </a:lnSpc>
            </a:pPr>
            <a:r>
              <a:rPr lang="en-US" sz="2894" spc="63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Est</a:t>
            </a:r>
            <a:r>
              <a:rPr lang="en-US" sz="2894" spc="63" strike="noStrike" u="none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 proyecto nace de la necesidad de mejorar el ingreso de vehículos a los talleres de PepsiCo Chile. Hoy en día el proceso se hace de forma manual, lo que provoca demoras y falta de control. La propuesta es desarrollar una plataforma simple y centralizada que facilite la organización, reduzca errores y permita acceder a la información de manera rápida y clara.</a:t>
            </a:r>
          </a:p>
        </p:txBody>
      </p:sp>
    </p:spTree>
  </p:cSld>
  <p:clrMapOvr>
    <a:masterClrMapping/>
  </p:clrMapOvr>
  <p:transition spd="slow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754466" y="-1225636"/>
            <a:ext cx="14493181" cy="13412781"/>
          </a:xfrm>
          <a:custGeom>
            <a:avLst/>
            <a:gdLst/>
            <a:ahLst/>
            <a:cxnLst/>
            <a:rect r="r" b="b" t="t" l="l"/>
            <a:pathLst>
              <a:path h="13412781" w="14493181">
                <a:moveTo>
                  <a:pt x="0" y="0"/>
                </a:moveTo>
                <a:lnTo>
                  <a:pt x="14493182" y="0"/>
                </a:lnTo>
                <a:lnTo>
                  <a:pt x="14493182" y="13412781"/>
                </a:lnTo>
                <a:lnTo>
                  <a:pt x="0" y="134127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306345" y="-285545"/>
            <a:ext cx="5502457" cy="5272355"/>
          </a:xfrm>
          <a:custGeom>
            <a:avLst/>
            <a:gdLst/>
            <a:ahLst/>
            <a:cxnLst/>
            <a:rect r="r" b="b" t="t" l="l"/>
            <a:pathLst>
              <a:path h="5272355" w="5502457">
                <a:moveTo>
                  <a:pt x="0" y="0"/>
                </a:moveTo>
                <a:lnTo>
                  <a:pt x="5502457" y="0"/>
                </a:lnTo>
                <a:lnTo>
                  <a:pt x="5502457" y="5272355"/>
                </a:lnTo>
                <a:lnTo>
                  <a:pt x="0" y="5272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3639771">
            <a:off x="17005014" y="3219916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0" y="9258300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3553610">
            <a:off x="-1547472" y="4540784"/>
            <a:ext cx="5152344" cy="4936883"/>
          </a:xfrm>
          <a:custGeom>
            <a:avLst/>
            <a:gdLst/>
            <a:ahLst/>
            <a:cxnLst/>
            <a:rect r="r" b="b" t="t" l="l"/>
            <a:pathLst>
              <a:path h="4936883" w="5152344">
                <a:moveTo>
                  <a:pt x="0" y="0"/>
                </a:moveTo>
                <a:lnTo>
                  <a:pt x="5152344" y="0"/>
                </a:lnTo>
                <a:lnTo>
                  <a:pt x="5152344" y="4936883"/>
                </a:lnTo>
                <a:lnTo>
                  <a:pt x="0" y="49368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885825"/>
            <a:ext cx="8324690" cy="1259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b="true" sz="7327" spc="688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760457" y="6765648"/>
            <a:ext cx="8807206" cy="21842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8160" indent="-259080" lvl="1">
              <a:lnSpc>
                <a:spcPts val="2856"/>
              </a:lnSpc>
              <a:buAutoNum type="arabicPeriod" startAt="1"/>
            </a:pPr>
            <a:r>
              <a:rPr lang="en-US" sz="24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Facilitar la programación e ingreso de vehículos</a:t>
            </a:r>
          </a:p>
          <a:p>
            <a:pPr algn="just" marL="518160" indent="-259080" lvl="1">
              <a:lnSpc>
                <a:spcPts val="2856"/>
              </a:lnSpc>
              <a:buAutoNum type="arabicPeriod" startAt="1"/>
            </a:pPr>
            <a:r>
              <a:rPr lang="en-US" sz="24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Permitir la gestión en tiempo real y las pausas del proceso</a:t>
            </a:r>
          </a:p>
          <a:p>
            <a:pPr algn="just" marL="518160" indent="-259080" lvl="1">
              <a:lnSpc>
                <a:spcPts val="2856"/>
              </a:lnSpc>
              <a:buAutoNum type="arabicPeriod" startAt="1"/>
            </a:pPr>
            <a:r>
              <a:rPr lang="en-US" sz="24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Integrar la comunicación y documentos en una sola plataforma </a:t>
            </a:r>
          </a:p>
          <a:p>
            <a:pPr algn="just" marL="518160" indent="-259080" lvl="1">
              <a:lnSpc>
                <a:spcPts val="2856"/>
              </a:lnSpc>
              <a:buAutoNum type="arabicPeriod" startAt="1"/>
            </a:pPr>
            <a:r>
              <a:rPr lang="en-US" sz="24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Generar reportes auto para toma de decisiones </a:t>
            </a:r>
          </a:p>
          <a:p>
            <a:pPr algn="just" marL="518160" indent="-259080" lvl="1">
              <a:lnSpc>
                <a:spcPts val="2856"/>
              </a:lnSpc>
              <a:buAutoNum type="arabicPeriod" startAt="1"/>
            </a:pPr>
            <a:r>
              <a:rPr lang="en-US" sz="24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Crear perfiles de usuarios con perfiles diferenciados y generar notificaciones en la plataforma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763545" y="5571559"/>
            <a:ext cx="4981683" cy="962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i="true" spc="526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ESPECIFICOS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139144" y="2795685"/>
            <a:ext cx="3621286" cy="962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i="true" spc="526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GENERAL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048747" y="3939320"/>
            <a:ext cx="8807206" cy="1253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 spc="225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Desarrollar plataforma tecnológica que gestione la logística mejorando tiempo, comunicación y la trazabilidad de la información entre los usuarios</a:t>
            </a:r>
          </a:p>
        </p:txBody>
      </p:sp>
      <p:sp>
        <p:nvSpPr>
          <p:cNvPr name="AutoShape 12" id="12"/>
          <p:cNvSpPr/>
          <p:nvPr/>
        </p:nvSpPr>
        <p:spPr>
          <a:xfrm flipV="true">
            <a:off x="2826397" y="3996470"/>
            <a:ext cx="0" cy="1207072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  <p:transition spd="slow">
    <p:cover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754466" y="-1225636"/>
            <a:ext cx="14493181" cy="13412781"/>
          </a:xfrm>
          <a:custGeom>
            <a:avLst/>
            <a:gdLst/>
            <a:ahLst/>
            <a:cxnLst/>
            <a:rect r="r" b="b" t="t" l="l"/>
            <a:pathLst>
              <a:path h="13412781" w="14493181">
                <a:moveTo>
                  <a:pt x="0" y="0"/>
                </a:moveTo>
                <a:lnTo>
                  <a:pt x="14493182" y="0"/>
                </a:lnTo>
                <a:lnTo>
                  <a:pt x="14493182" y="13412781"/>
                </a:lnTo>
                <a:lnTo>
                  <a:pt x="0" y="134127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306345" y="-285545"/>
            <a:ext cx="5502457" cy="5272355"/>
          </a:xfrm>
          <a:custGeom>
            <a:avLst/>
            <a:gdLst/>
            <a:ahLst/>
            <a:cxnLst/>
            <a:rect r="r" b="b" t="t" l="l"/>
            <a:pathLst>
              <a:path h="5272355" w="5502457">
                <a:moveTo>
                  <a:pt x="0" y="0"/>
                </a:moveTo>
                <a:lnTo>
                  <a:pt x="5502457" y="0"/>
                </a:lnTo>
                <a:lnTo>
                  <a:pt x="5502457" y="5272355"/>
                </a:lnTo>
                <a:lnTo>
                  <a:pt x="0" y="5272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3639771">
            <a:off x="17005014" y="3219916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0" y="9258300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3553610">
            <a:off x="-1547472" y="4540784"/>
            <a:ext cx="5152344" cy="4936883"/>
          </a:xfrm>
          <a:custGeom>
            <a:avLst/>
            <a:gdLst/>
            <a:ahLst/>
            <a:cxnLst/>
            <a:rect r="r" b="b" t="t" l="l"/>
            <a:pathLst>
              <a:path h="4936883" w="5152344">
                <a:moveTo>
                  <a:pt x="0" y="0"/>
                </a:moveTo>
                <a:lnTo>
                  <a:pt x="5152344" y="0"/>
                </a:lnTo>
                <a:lnTo>
                  <a:pt x="5152344" y="4936883"/>
                </a:lnTo>
                <a:lnTo>
                  <a:pt x="0" y="49368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4981655" y="4445981"/>
            <a:ext cx="8324690" cy="1252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b="true" sz="7327" spc="688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MÓDULOS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859897" y="-1562890"/>
            <a:ext cx="14493181" cy="13412781"/>
          </a:xfrm>
          <a:custGeom>
            <a:avLst/>
            <a:gdLst/>
            <a:ahLst/>
            <a:cxnLst/>
            <a:rect r="r" b="b" t="t" l="l"/>
            <a:pathLst>
              <a:path h="13412781" w="14493181">
                <a:moveTo>
                  <a:pt x="0" y="0"/>
                </a:moveTo>
                <a:lnTo>
                  <a:pt x="14493181" y="0"/>
                </a:lnTo>
                <a:lnTo>
                  <a:pt x="14493181" y="13412780"/>
                </a:lnTo>
                <a:lnTo>
                  <a:pt x="0" y="134127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306345" y="-285545"/>
            <a:ext cx="5502457" cy="5272355"/>
          </a:xfrm>
          <a:custGeom>
            <a:avLst/>
            <a:gdLst/>
            <a:ahLst/>
            <a:cxnLst/>
            <a:rect r="r" b="b" t="t" l="l"/>
            <a:pathLst>
              <a:path h="5272355" w="5502457">
                <a:moveTo>
                  <a:pt x="0" y="0"/>
                </a:moveTo>
                <a:lnTo>
                  <a:pt x="5502457" y="0"/>
                </a:lnTo>
                <a:lnTo>
                  <a:pt x="5502457" y="5272355"/>
                </a:lnTo>
                <a:lnTo>
                  <a:pt x="0" y="5272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3639771">
            <a:off x="17005014" y="3219916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0" y="9258300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6" id="6"/>
          <p:cNvSpPr txBox="true"/>
          <p:nvPr/>
        </p:nvSpPr>
        <p:spPr>
          <a:xfrm rot="0">
            <a:off x="4694939" y="5716774"/>
            <a:ext cx="8807206" cy="945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99"/>
              </a:lnSpc>
            </a:pPr>
            <a:r>
              <a:rPr lang="en-US" sz="21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 dentro de la propia sesión de chofer, agendar una hora de atención para el taller. Permitirá rellenar los siguientes campos del vehículo:  Marca, modelo patente y chofer.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478087" y="4812154"/>
            <a:ext cx="6416129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i="true" spc="347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TOMA DE HORA EN TALLER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62771" y="2283958"/>
            <a:ext cx="6253609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i="true" spc="347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REGISTRO DE VEHÍCULOS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610332" y="3142477"/>
            <a:ext cx="8807206" cy="1108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pc="197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 a los choferes registrar el vehículo, guardando los siguientes datos: Patente del vehículo, Modelo del vehículo, Nombre del chofer.</a:t>
            </a:r>
          </a:p>
        </p:txBody>
      </p:sp>
      <p:sp>
        <p:nvSpPr>
          <p:cNvPr name="AutoShape 10" id="10"/>
          <p:cNvSpPr/>
          <p:nvPr/>
        </p:nvSpPr>
        <p:spPr>
          <a:xfrm flipV="true">
            <a:off x="2387982" y="3190102"/>
            <a:ext cx="0" cy="1207072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flipV="true">
            <a:off x="4506662" y="5586059"/>
            <a:ext cx="0" cy="1207072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7416920" y="8166239"/>
            <a:ext cx="8807206" cy="631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99"/>
              </a:lnSpc>
            </a:pPr>
            <a:r>
              <a:rPr lang="en-US" sz="21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 dentro de la propia sesión de chofer, visualizar el tiempo de reparación junto a otro tipo de actualizaciones de parte del mecánico.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013935" y="7224391"/>
            <a:ext cx="8941743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i="true" spc="347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VISUALIZAR TIEMPO DE REPARACIÓN</a:t>
            </a:r>
          </a:p>
        </p:txBody>
      </p:sp>
      <p:sp>
        <p:nvSpPr>
          <p:cNvPr name="AutoShape 14" id="14"/>
          <p:cNvSpPr/>
          <p:nvPr/>
        </p:nvSpPr>
        <p:spPr>
          <a:xfrm flipV="true">
            <a:off x="7222375" y="8006170"/>
            <a:ext cx="0" cy="951455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13227148" y="1091309"/>
            <a:ext cx="4032152" cy="1259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b="true" sz="7327" spc="688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CHOFER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315773" y="478862"/>
            <a:ext cx="3854902" cy="966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MÓDULOS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754466" y="-1225636"/>
            <a:ext cx="14493181" cy="13412781"/>
          </a:xfrm>
          <a:custGeom>
            <a:avLst/>
            <a:gdLst/>
            <a:ahLst/>
            <a:cxnLst/>
            <a:rect r="r" b="b" t="t" l="l"/>
            <a:pathLst>
              <a:path h="13412781" w="14493181">
                <a:moveTo>
                  <a:pt x="0" y="0"/>
                </a:moveTo>
                <a:lnTo>
                  <a:pt x="14493182" y="0"/>
                </a:lnTo>
                <a:lnTo>
                  <a:pt x="14493182" y="13412781"/>
                </a:lnTo>
                <a:lnTo>
                  <a:pt x="0" y="134127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306345" y="-285545"/>
            <a:ext cx="5502457" cy="5272355"/>
          </a:xfrm>
          <a:custGeom>
            <a:avLst/>
            <a:gdLst/>
            <a:ahLst/>
            <a:cxnLst/>
            <a:rect r="r" b="b" t="t" l="l"/>
            <a:pathLst>
              <a:path h="5272355" w="5502457">
                <a:moveTo>
                  <a:pt x="0" y="0"/>
                </a:moveTo>
                <a:lnTo>
                  <a:pt x="5502457" y="0"/>
                </a:lnTo>
                <a:lnTo>
                  <a:pt x="5502457" y="5272355"/>
                </a:lnTo>
                <a:lnTo>
                  <a:pt x="0" y="5272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3639771">
            <a:off x="17005014" y="3219916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0" y="9258300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3553610">
            <a:off x="-1411918" y="3790318"/>
            <a:ext cx="5152344" cy="4936883"/>
          </a:xfrm>
          <a:custGeom>
            <a:avLst/>
            <a:gdLst/>
            <a:ahLst/>
            <a:cxnLst/>
            <a:rect r="r" b="b" t="t" l="l"/>
            <a:pathLst>
              <a:path h="4936883" w="5152344">
                <a:moveTo>
                  <a:pt x="0" y="0"/>
                </a:moveTo>
                <a:lnTo>
                  <a:pt x="5152344" y="0"/>
                </a:lnTo>
                <a:lnTo>
                  <a:pt x="5152344" y="4936883"/>
                </a:lnTo>
                <a:lnTo>
                  <a:pt x="0" y="49368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2200678" y="6033243"/>
            <a:ext cx="4484545" cy="21842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56"/>
              </a:lnSpc>
            </a:pPr>
            <a:r>
              <a:rPr lang="en-US" sz="24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Los roles de usuario hacen la distinción entre los permisos que tiene cada trabajador en su perfil personal. Lo que permite al sistema desplegar las vistas correspondientes.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200678" y="4247035"/>
            <a:ext cx="4255479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true" spc="375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ROLES DE USUARIO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898422" y="4247035"/>
            <a:ext cx="4139126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true" spc="375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CRUD DE PERFILES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992097" y="5985618"/>
            <a:ext cx="4484545" cy="167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25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 editar, eliminar y agregar perfiles de usuario. Además permite bloquear cuentas.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68225" y="1362416"/>
            <a:ext cx="8415059" cy="1259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b="true" sz="7327" spc="688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ADMINISTRADOR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56850" y="749970"/>
            <a:ext cx="3854902" cy="966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MÓDULOS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55696" y="4771212"/>
            <a:ext cx="4427096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true" spc="375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LOGIN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26971" y="6000680"/>
            <a:ext cx="4484545" cy="2091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25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 a los usuarios ingresar a sus respectivas cuentas y muestra módulos correspondientes con el rol de su perfil.</a:t>
            </a:r>
          </a:p>
        </p:txBody>
      </p:sp>
      <p:sp>
        <p:nvSpPr>
          <p:cNvPr name="AutoShape 15" id="15"/>
          <p:cNvSpPr/>
          <p:nvPr/>
        </p:nvSpPr>
        <p:spPr>
          <a:xfrm>
            <a:off x="2185241" y="5759008"/>
            <a:ext cx="3223813" cy="0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7356078" y="5737039"/>
            <a:ext cx="3223813" cy="0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2716511" y="5743947"/>
            <a:ext cx="3223813" cy="0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859897" y="-1562890"/>
            <a:ext cx="14493181" cy="13412781"/>
          </a:xfrm>
          <a:custGeom>
            <a:avLst/>
            <a:gdLst/>
            <a:ahLst/>
            <a:cxnLst/>
            <a:rect r="r" b="b" t="t" l="l"/>
            <a:pathLst>
              <a:path h="13412781" w="14493181">
                <a:moveTo>
                  <a:pt x="0" y="0"/>
                </a:moveTo>
                <a:lnTo>
                  <a:pt x="14493181" y="0"/>
                </a:lnTo>
                <a:lnTo>
                  <a:pt x="14493181" y="13412780"/>
                </a:lnTo>
                <a:lnTo>
                  <a:pt x="0" y="134127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306345" y="-285545"/>
            <a:ext cx="5502457" cy="5272355"/>
          </a:xfrm>
          <a:custGeom>
            <a:avLst/>
            <a:gdLst/>
            <a:ahLst/>
            <a:cxnLst/>
            <a:rect r="r" b="b" t="t" l="l"/>
            <a:pathLst>
              <a:path h="5272355" w="5502457">
                <a:moveTo>
                  <a:pt x="0" y="0"/>
                </a:moveTo>
                <a:lnTo>
                  <a:pt x="5502457" y="0"/>
                </a:lnTo>
                <a:lnTo>
                  <a:pt x="5502457" y="5272355"/>
                </a:lnTo>
                <a:lnTo>
                  <a:pt x="0" y="5272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3639771">
            <a:off x="17005014" y="3219916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0" y="9258300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6" id="6"/>
          <p:cNvSpPr txBox="true"/>
          <p:nvPr/>
        </p:nvSpPr>
        <p:spPr>
          <a:xfrm rot="0">
            <a:off x="4694939" y="5716774"/>
            <a:ext cx="8807206" cy="945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99"/>
              </a:lnSpc>
            </a:pPr>
            <a:r>
              <a:rPr lang="en-US" sz="21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 dentro de la propia sesión de chofer, agendar una hora de atención para el taller. Permitirá rellenar los siguientes campos del vehículo:  Marca, modelo patente y chofer.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506662" y="4795202"/>
            <a:ext cx="7453610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i="true" spc="347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INFORMES DE MANTENIMIENTO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265661" y="2283958"/>
            <a:ext cx="6447830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i="true" spc="347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HISTORIAL DE VEHÍCULOS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610332" y="3142477"/>
            <a:ext cx="8807206" cy="1480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pc="197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 a los usuarios con rol de supervisor ver los vehículos registrados de parte de los choferes, como también filtrar la búsqueda por fecha y patente. Como también exportar los datos a CSV.</a:t>
            </a:r>
          </a:p>
        </p:txBody>
      </p:sp>
      <p:sp>
        <p:nvSpPr>
          <p:cNvPr name="AutoShape 10" id="10"/>
          <p:cNvSpPr/>
          <p:nvPr/>
        </p:nvSpPr>
        <p:spPr>
          <a:xfrm flipV="true">
            <a:off x="2387982" y="3190102"/>
            <a:ext cx="0" cy="1207072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flipV="true">
            <a:off x="4506662" y="5586059"/>
            <a:ext cx="0" cy="1207072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7416920" y="8166239"/>
            <a:ext cx="8807206" cy="631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99"/>
              </a:lnSpc>
            </a:pPr>
            <a:r>
              <a:rPr lang="en-US" sz="21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 dentro de la propia sesión de supervisor, subir documentos, eliminarlos y realizar búsqueda por fecha o nombre.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191151" y="7224391"/>
            <a:ext cx="9032974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i="true" spc="347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ALMACENAMIENTO DE DOCUMENTOS</a:t>
            </a:r>
          </a:p>
        </p:txBody>
      </p:sp>
      <p:sp>
        <p:nvSpPr>
          <p:cNvPr name="AutoShape 14" id="14"/>
          <p:cNvSpPr/>
          <p:nvPr/>
        </p:nvSpPr>
        <p:spPr>
          <a:xfrm flipV="true">
            <a:off x="7222375" y="8006170"/>
            <a:ext cx="0" cy="951455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11417538" y="1156832"/>
            <a:ext cx="6124099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b="true" sz="6999" spc="657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SUPERVISOR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315773" y="478862"/>
            <a:ext cx="3854902" cy="966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MÓDULOS</a:t>
            </a: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754466" y="-1225636"/>
            <a:ext cx="14493181" cy="13412781"/>
          </a:xfrm>
          <a:custGeom>
            <a:avLst/>
            <a:gdLst/>
            <a:ahLst/>
            <a:cxnLst/>
            <a:rect r="r" b="b" t="t" l="l"/>
            <a:pathLst>
              <a:path h="13412781" w="14493181">
                <a:moveTo>
                  <a:pt x="0" y="0"/>
                </a:moveTo>
                <a:lnTo>
                  <a:pt x="14493182" y="0"/>
                </a:lnTo>
                <a:lnTo>
                  <a:pt x="14493182" y="13412781"/>
                </a:lnTo>
                <a:lnTo>
                  <a:pt x="0" y="134127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306345" y="-285545"/>
            <a:ext cx="5502457" cy="5272355"/>
          </a:xfrm>
          <a:custGeom>
            <a:avLst/>
            <a:gdLst/>
            <a:ahLst/>
            <a:cxnLst/>
            <a:rect r="r" b="b" t="t" l="l"/>
            <a:pathLst>
              <a:path h="5272355" w="5502457">
                <a:moveTo>
                  <a:pt x="0" y="0"/>
                </a:moveTo>
                <a:lnTo>
                  <a:pt x="5502457" y="0"/>
                </a:lnTo>
                <a:lnTo>
                  <a:pt x="5502457" y="5272355"/>
                </a:lnTo>
                <a:lnTo>
                  <a:pt x="0" y="5272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3639771">
            <a:off x="17005014" y="3219916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0" y="9258300"/>
            <a:ext cx="1966466" cy="1884231"/>
          </a:xfrm>
          <a:custGeom>
            <a:avLst/>
            <a:gdLst/>
            <a:ahLst/>
            <a:cxnLst/>
            <a:rect r="r" b="b" t="t" l="l"/>
            <a:pathLst>
              <a:path h="1884231" w="1966466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3553610">
            <a:off x="-1547472" y="4540784"/>
            <a:ext cx="5152344" cy="4936883"/>
          </a:xfrm>
          <a:custGeom>
            <a:avLst/>
            <a:gdLst/>
            <a:ahLst/>
            <a:cxnLst/>
            <a:rect r="r" b="b" t="t" l="l"/>
            <a:pathLst>
              <a:path h="4936883" w="5152344">
                <a:moveTo>
                  <a:pt x="0" y="0"/>
                </a:moveTo>
                <a:lnTo>
                  <a:pt x="5152344" y="0"/>
                </a:lnTo>
                <a:lnTo>
                  <a:pt x="5152344" y="4936883"/>
                </a:lnTo>
                <a:lnTo>
                  <a:pt x="0" y="49368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1091309"/>
            <a:ext cx="8324690" cy="1259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b="true" sz="7327" spc="688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MECÁNICO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760457" y="6765648"/>
            <a:ext cx="8807206" cy="1460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56"/>
              </a:lnSpc>
            </a:pPr>
            <a:r>
              <a:rPr lang="en-US" sz="2400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 a los usuarios con rol de mecánico realizar informes describiendo los datos del vehículo, del chofer, comentarios de la reparación, la cronología del servicio entregado y también la subida de evidencias fotográficas.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861325" y="5983385"/>
            <a:ext cx="7139732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i="true" spc="347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INFORME DE MANTENIMIENTO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03991" y="3137950"/>
            <a:ext cx="4774109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i="true" spc="347">
                <a:solidFill>
                  <a:srgbClr val="8B9ECF"/>
                </a:solidFill>
                <a:latin typeface="Glacial Indifference Italics"/>
                <a:ea typeface="Glacial Indifference Italics"/>
                <a:cs typeface="Glacial Indifference Italics"/>
                <a:sym typeface="Glacial Indifference Italics"/>
              </a:rPr>
              <a:t>GESTIÓN DE CITAS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048747" y="3939320"/>
            <a:ext cx="8807206" cy="1253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 spc="225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Desarrollar plataforma tecnológica que gestione la logística mejorando tiempo, comunicación y la trazabilidad de la información entre los usuarios</a:t>
            </a:r>
          </a:p>
        </p:txBody>
      </p:sp>
      <p:sp>
        <p:nvSpPr>
          <p:cNvPr name="AutoShape 12" id="12"/>
          <p:cNvSpPr/>
          <p:nvPr/>
        </p:nvSpPr>
        <p:spPr>
          <a:xfrm flipV="true">
            <a:off x="2826397" y="3996470"/>
            <a:ext cx="0" cy="1207072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1094885" y="267795"/>
            <a:ext cx="3854902" cy="966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MÓDULOS</a:t>
            </a:r>
          </a:p>
        </p:txBody>
      </p:sp>
      <p:sp>
        <p:nvSpPr>
          <p:cNvPr name="AutoShape 14" id="14"/>
          <p:cNvSpPr/>
          <p:nvPr/>
        </p:nvSpPr>
        <p:spPr>
          <a:xfrm flipV="true">
            <a:off x="6533320" y="6897060"/>
            <a:ext cx="0" cy="1207072"/>
          </a:xfrm>
          <a:prstGeom prst="line">
            <a:avLst/>
          </a:prstGeom>
          <a:ln cap="flat" w="5715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6399961">
            <a:off x="11329998" y="-1574727"/>
            <a:ext cx="13805122" cy="17698875"/>
          </a:xfrm>
          <a:custGeom>
            <a:avLst/>
            <a:gdLst/>
            <a:ahLst/>
            <a:cxnLst/>
            <a:rect r="r" b="b" t="t" l="l"/>
            <a:pathLst>
              <a:path h="17698875" w="13805122">
                <a:moveTo>
                  <a:pt x="0" y="0"/>
                </a:moveTo>
                <a:lnTo>
                  <a:pt x="13805122" y="0"/>
                </a:lnTo>
                <a:lnTo>
                  <a:pt x="13805122" y="17698875"/>
                </a:lnTo>
                <a:lnTo>
                  <a:pt x="0" y="176988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2130732" y="3952647"/>
            <a:ext cx="9579692" cy="438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85"/>
              </a:lnSpc>
            </a:pPr>
            <a:r>
              <a:rPr lang="en-US" sz="3561" spc="78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 tod</a:t>
            </a:r>
            <a:r>
              <a:rPr lang="en-US" sz="3561" spc="78" strike="noStrike" u="none">
                <a:solidFill>
                  <a:srgbClr val="29458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 lo mencionado anteriormente esperamos que haya podido quedar claro lo que buscamos crear como equipo, estamos seguros de que con esta solución podremos arreglar la problemática que actualmente tiene la compañía y poder mejorar su desempeño.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28022" y="2444870"/>
            <a:ext cx="8324690" cy="1259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b="true" sz="7327" spc="688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CONCLUSIÓN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4114121">
            <a:off x="14231721" y="4747968"/>
            <a:ext cx="5168085" cy="4951965"/>
          </a:xfrm>
          <a:custGeom>
            <a:avLst/>
            <a:gdLst/>
            <a:ahLst/>
            <a:cxnLst/>
            <a:rect r="r" b="b" t="t" l="l"/>
            <a:pathLst>
              <a:path h="4951965" w="5168085">
                <a:moveTo>
                  <a:pt x="0" y="0"/>
                </a:moveTo>
                <a:lnTo>
                  <a:pt x="5168084" y="0"/>
                </a:lnTo>
                <a:lnTo>
                  <a:pt x="5168084" y="4951964"/>
                </a:lnTo>
                <a:lnTo>
                  <a:pt x="0" y="495196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-6783424">
            <a:off x="13751059" y="7795098"/>
            <a:ext cx="3086494" cy="2957423"/>
          </a:xfrm>
          <a:custGeom>
            <a:avLst/>
            <a:gdLst/>
            <a:ahLst/>
            <a:cxnLst/>
            <a:rect r="r" b="b" t="t" l="l"/>
            <a:pathLst>
              <a:path h="2957423" w="3086494">
                <a:moveTo>
                  <a:pt x="0" y="0"/>
                </a:moveTo>
                <a:lnTo>
                  <a:pt x="3086494" y="0"/>
                </a:lnTo>
                <a:lnTo>
                  <a:pt x="3086494" y="2957423"/>
                </a:lnTo>
                <a:lnTo>
                  <a:pt x="0" y="29574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AutoShape 7" id="7"/>
          <p:cNvSpPr/>
          <p:nvPr/>
        </p:nvSpPr>
        <p:spPr>
          <a:xfrm flipV="true">
            <a:off x="1828022" y="4028847"/>
            <a:ext cx="0" cy="1470758"/>
          </a:xfrm>
          <a:prstGeom prst="line">
            <a:avLst/>
          </a:prstGeom>
          <a:ln cap="flat" w="7620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659918">
            <a:off x="-165526" y="-2972297"/>
            <a:ext cx="7352818" cy="6871543"/>
          </a:xfrm>
          <a:custGeom>
            <a:avLst/>
            <a:gdLst/>
            <a:ahLst/>
            <a:cxnLst/>
            <a:rect r="r" b="b" t="t" l="l"/>
            <a:pathLst>
              <a:path h="6871543" w="7352818">
                <a:moveTo>
                  <a:pt x="0" y="0"/>
                </a:moveTo>
                <a:lnTo>
                  <a:pt x="7352819" y="0"/>
                </a:lnTo>
                <a:lnTo>
                  <a:pt x="7352819" y="6871543"/>
                </a:lnTo>
                <a:lnTo>
                  <a:pt x="0" y="68715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H="true" flipV="true">
            <a:off x="1196418" y="2738811"/>
            <a:ext cx="0" cy="5799456"/>
          </a:xfrm>
          <a:prstGeom prst="line">
            <a:avLst/>
          </a:prstGeom>
          <a:ln cap="flat" w="114300">
            <a:solidFill>
              <a:srgbClr val="29458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5400000">
            <a:off x="8502801" y="331078"/>
            <a:ext cx="10116277" cy="9454121"/>
          </a:xfrm>
          <a:custGeom>
            <a:avLst/>
            <a:gdLst/>
            <a:ahLst/>
            <a:cxnLst/>
            <a:rect r="r" b="b" t="t" l="l"/>
            <a:pathLst>
              <a:path h="9454121" w="10116277">
                <a:moveTo>
                  <a:pt x="0" y="0"/>
                </a:moveTo>
                <a:lnTo>
                  <a:pt x="10116277" y="0"/>
                </a:lnTo>
                <a:lnTo>
                  <a:pt x="10116277" y="9454121"/>
                </a:lnTo>
                <a:lnTo>
                  <a:pt x="0" y="94541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196418" y="5978802"/>
            <a:ext cx="2724244" cy="2724244"/>
          </a:xfrm>
          <a:custGeom>
            <a:avLst/>
            <a:gdLst/>
            <a:ahLst/>
            <a:cxnLst/>
            <a:rect r="r" b="b" t="t" l="l"/>
            <a:pathLst>
              <a:path h="2724244" w="2724244">
                <a:moveTo>
                  <a:pt x="0" y="0"/>
                </a:moveTo>
                <a:lnTo>
                  <a:pt x="2724244" y="0"/>
                </a:lnTo>
                <a:lnTo>
                  <a:pt x="2724244" y="2724245"/>
                </a:lnTo>
                <a:lnTo>
                  <a:pt x="0" y="272424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999325" y="2586411"/>
            <a:ext cx="5127156" cy="2628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538"/>
              </a:lnSpc>
            </a:pPr>
            <a:r>
              <a:rPr lang="en-US" b="true" sz="7527" spc="707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MUCHAS GRACIAS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739687" y="6508199"/>
            <a:ext cx="5094192" cy="1608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78"/>
              </a:lnSpc>
            </a:pPr>
            <a:r>
              <a:rPr lang="en-US" b="true" sz="3056" spc="67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r.montenegros@duocuc.cl</a:t>
            </a:r>
          </a:p>
          <a:p>
            <a:pPr algn="l">
              <a:lnSpc>
                <a:spcPts val="4278"/>
              </a:lnSpc>
            </a:pPr>
            <a:r>
              <a:rPr lang="en-US" b="true" sz="3056" spc="67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go.montoya@duocuc.cl</a:t>
            </a:r>
          </a:p>
          <a:p>
            <a:pPr algn="l" marL="0" indent="0" lvl="1">
              <a:lnSpc>
                <a:spcPts val="4278"/>
              </a:lnSpc>
              <a:spcBef>
                <a:spcPct val="0"/>
              </a:spcBef>
            </a:pPr>
            <a:r>
              <a:rPr lang="en-US" b="true" sz="3056" spc="67">
                <a:solidFill>
                  <a:srgbClr val="29458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toma.perez@duocuc.cl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306345" y="-285545"/>
            <a:ext cx="5502457" cy="5272355"/>
          </a:xfrm>
          <a:custGeom>
            <a:avLst/>
            <a:gdLst/>
            <a:ahLst/>
            <a:cxnLst/>
            <a:rect r="r" b="b" t="t" l="l"/>
            <a:pathLst>
              <a:path h="5272355" w="5502457">
                <a:moveTo>
                  <a:pt x="0" y="0"/>
                </a:moveTo>
                <a:lnTo>
                  <a:pt x="5502457" y="0"/>
                </a:lnTo>
                <a:lnTo>
                  <a:pt x="5502457" y="5272355"/>
                </a:lnTo>
                <a:lnTo>
                  <a:pt x="0" y="527235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  <p:transition spd="fast">
    <p:circl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DAG5LsF5Opw</dc:identifier>
  <dcterms:modified xsi:type="dcterms:W3CDTF">2011-08-01T06:04:30Z</dcterms:modified>
  <cp:revision>1</cp:revision>
  <dc:title>Presentación N°3 - Capstone</dc:title>
</cp:coreProperties>
</file>